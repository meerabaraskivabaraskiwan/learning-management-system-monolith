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457" autoAdjust="0"/>
  </p:normalViewPr>
  <p:slideViewPr>
    <p:cSldViewPr snapToGrid="0">
      <p:cViewPr varScale="1">
        <p:scale>
          <a:sx n="60" d="100"/>
          <a:sy n="60" d="100"/>
        </p:scale>
        <p:origin x="78" y="5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EEF82C-FA69-4A2A-B65B-AB7F2216DA27}" type="datetimeFigureOut">
              <a:rPr lang="en-US" smtClean="0"/>
              <a:t>25/05/2023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D07D1E-5783-4DEF-9A7B-C4BC31FB513B}" type="slidenum">
              <a:rPr lang="en-US" smtClean="0"/>
              <a:t>‹#›</a:t>
            </a:fld>
            <a:endParaRPr lang="en-US"/>
          </a:p>
        </p:txBody>
      </p:sp>
    </p:spTree>
    <p:extLst>
      <p:ext uri="{BB962C8B-B14F-4D97-AF65-F5344CB8AC3E}">
        <p14:creationId xmlns:p14="http://schemas.microsoft.com/office/powerpoint/2010/main" val="4086244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consider Figure 3-2, where we are looking to extract functionality related to managing a customer’s </a:t>
            </a:r>
            <a:r>
              <a:rPr lang="en-US" dirty="0" err="1"/>
              <a:t>wishlist</a:t>
            </a:r>
            <a:r>
              <a:rPr lang="en-US" dirty="0"/>
              <a:t>. There is some application code that lives in the monolith, and some related data storage in the data‐ base. So which bit should we extract first? </a:t>
            </a:r>
          </a:p>
        </p:txBody>
      </p:sp>
      <p:sp>
        <p:nvSpPr>
          <p:cNvPr id="4" name="Slide Number Placeholder 3"/>
          <p:cNvSpPr>
            <a:spLocks noGrp="1"/>
          </p:cNvSpPr>
          <p:nvPr>
            <p:ph type="sldNum" sz="quarter" idx="5"/>
          </p:nvPr>
        </p:nvSpPr>
        <p:spPr/>
        <p:txBody>
          <a:bodyPr/>
          <a:lstStyle/>
          <a:p>
            <a:fld id="{9CD07D1E-5783-4DEF-9A7B-C4BC31FB513B}" type="slidenum">
              <a:rPr lang="en-US" smtClean="0"/>
              <a:t>3</a:t>
            </a:fld>
            <a:endParaRPr lang="en-US"/>
          </a:p>
        </p:txBody>
      </p:sp>
    </p:spTree>
    <p:extLst>
      <p:ext uri="{BB962C8B-B14F-4D97-AF65-F5344CB8AC3E}">
        <p14:creationId xmlns:p14="http://schemas.microsoft.com/office/powerpoint/2010/main" val="1411505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Figure 3-3, we have extracted the code associated with the </a:t>
            </a:r>
            <a:r>
              <a:rPr lang="en-US" dirty="0" err="1"/>
              <a:t>wishlist</a:t>
            </a:r>
            <a:r>
              <a:rPr lang="en-US" dirty="0"/>
              <a:t> functionality</a:t>
            </a:r>
          </a:p>
          <a:p>
            <a:r>
              <a:rPr lang="en-US" dirty="0"/>
              <a:t>into a new microservice. The data for the </a:t>
            </a:r>
            <a:r>
              <a:rPr lang="en-US" dirty="0" err="1"/>
              <a:t>wishlist</a:t>
            </a:r>
            <a:r>
              <a:rPr lang="en-US" dirty="0"/>
              <a:t> remains in the monolithic database</a:t>
            </a:r>
          </a:p>
          <a:p>
            <a:r>
              <a:rPr lang="en-US" dirty="0"/>
              <a:t>at this stage—we haven’t completed the decomposition until we’ve also moved out</a:t>
            </a:r>
          </a:p>
          <a:p>
            <a:r>
              <a:rPr lang="en-US" dirty="0"/>
              <a:t>the data related to the new Wishlist microservice</a:t>
            </a:r>
          </a:p>
        </p:txBody>
      </p:sp>
      <p:sp>
        <p:nvSpPr>
          <p:cNvPr id="4" name="Slide Number Placeholder 3"/>
          <p:cNvSpPr>
            <a:spLocks noGrp="1"/>
          </p:cNvSpPr>
          <p:nvPr>
            <p:ph type="sldNum" sz="quarter" idx="5"/>
          </p:nvPr>
        </p:nvSpPr>
        <p:spPr/>
        <p:txBody>
          <a:bodyPr/>
          <a:lstStyle/>
          <a:p>
            <a:fld id="{9CD07D1E-5783-4DEF-9A7B-C4BC31FB513B}" type="slidenum">
              <a:rPr lang="en-US" smtClean="0"/>
              <a:t>4</a:t>
            </a:fld>
            <a:endParaRPr lang="en-US"/>
          </a:p>
        </p:txBody>
      </p:sp>
    </p:spTree>
    <p:extLst>
      <p:ext uri="{BB962C8B-B14F-4D97-AF65-F5344CB8AC3E}">
        <p14:creationId xmlns:p14="http://schemas.microsoft.com/office/powerpoint/2010/main" val="4230176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Figure 3-4, we see the data being extracted first, before the application code. I see</a:t>
            </a:r>
          </a:p>
          <a:p>
            <a:r>
              <a:rPr lang="en-US" dirty="0"/>
              <a:t>this approach less often, but it can be useful in situations in which you are unsure</a:t>
            </a:r>
          </a:p>
          <a:p>
            <a:r>
              <a:rPr lang="en-US" dirty="0"/>
              <a:t>whether the data can be separated cleanly. Here, you prove that this can be done</a:t>
            </a:r>
          </a:p>
          <a:p>
            <a:r>
              <a:rPr lang="en-US" dirty="0"/>
              <a:t>before moving on to the hopefully easier application code extraction.</a:t>
            </a:r>
          </a:p>
        </p:txBody>
      </p:sp>
      <p:sp>
        <p:nvSpPr>
          <p:cNvPr id="4" name="Slide Number Placeholder 3"/>
          <p:cNvSpPr>
            <a:spLocks noGrp="1"/>
          </p:cNvSpPr>
          <p:nvPr>
            <p:ph type="sldNum" sz="quarter" idx="5"/>
          </p:nvPr>
        </p:nvSpPr>
        <p:spPr/>
        <p:txBody>
          <a:bodyPr/>
          <a:lstStyle/>
          <a:p>
            <a:fld id="{9CD07D1E-5783-4DEF-9A7B-C4BC31FB513B}" type="slidenum">
              <a:rPr lang="en-US" smtClean="0"/>
              <a:t>5</a:t>
            </a:fld>
            <a:endParaRPr lang="en-US"/>
          </a:p>
        </p:txBody>
      </p:sp>
    </p:spTree>
    <p:extLst>
      <p:ext uri="{BB962C8B-B14F-4D97-AF65-F5344CB8AC3E}">
        <p14:creationId xmlns:p14="http://schemas.microsoft.com/office/powerpoint/2010/main" val="1449118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approach as shown in Figure 3-5 is straightforward. You intercept calls to the existing system—in our case the existing monolithic application. If the call to that piece of functionality is implemented in our new microservice architecture, it is </a:t>
            </a:r>
            <a:r>
              <a:rPr lang="en-US" dirty="0" err="1"/>
              <a:t>redi</a:t>
            </a:r>
            <a:r>
              <a:rPr lang="en-US" dirty="0"/>
              <a:t>‐ </a:t>
            </a:r>
            <a:r>
              <a:rPr lang="en-US" dirty="0" err="1"/>
              <a:t>rected</a:t>
            </a:r>
            <a:r>
              <a:rPr lang="en-US" dirty="0"/>
              <a:t> to the microservice. If the functionality is still provided by the monolith, the call is allowed to continue to the monolith itself.</a:t>
            </a:r>
          </a:p>
        </p:txBody>
      </p:sp>
      <p:sp>
        <p:nvSpPr>
          <p:cNvPr id="4" name="Slide Number Placeholder 3"/>
          <p:cNvSpPr>
            <a:spLocks noGrp="1"/>
          </p:cNvSpPr>
          <p:nvPr>
            <p:ph type="sldNum" sz="quarter" idx="5"/>
          </p:nvPr>
        </p:nvSpPr>
        <p:spPr/>
        <p:txBody>
          <a:bodyPr/>
          <a:lstStyle/>
          <a:p>
            <a:fld id="{9CD07D1E-5783-4DEF-9A7B-C4BC31FB513B}" type="slidenum">
              <a:rPr lang="en-US" smtClean="0"/>
              <a:t>7</a:t>
            </a:fld>
            <a:endParaRPr lang="en-US"/>
          </a:p>
        </p:txBody>
      </p:sp>
    </p:spTree>
    <p:extLst>
      <p:ext uri="{BB962C8B-B14F-4D97-AF65-F5344CB8AC3E}">
        <p14:creationId xmlns:p14="http://schemas.microsoft.com/office/powerpoint/2010/main" val="3690778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Figure 3-6, which illustrates a situation we find ourselves in regarding</a:t>
            </a:r>
          </a:p>
          <a:p>
            <a:r>
              <a:rPr lang="en-US" dirty="0" err="1"/>
              <a:t>MusicCorp</a:t>
            </a:r>
            <a:r>
              <a:rPr lang="en-US" dirty="0"/>
              <a:t>. We’ve decided to extract our catalog functionality—something that can</a:t>
            </a:r>
          </a:p>
          <a:p>
            <a:r>
              <a:rPr lang="en-US" dirty="0"/>
              <a:t>manage and expose information about artists, tracks, and albums. Currently, our</a:t>
            </a:r>
          </a:p>
          <a:p>
            <a:r>
              <a:rPr lang="en-US" dirty="0"/>
              <a:t>catalog-related code inside the monolith uses an Albums table to store information</a:t>
            </a:r>
          </a:p>
          <a:p>
            <a:r>
              <a:rPr lang="en-US" dirty="0"/>
              <a:t>about the CDs that we might have available for sale. These albums end up getting ref‐</a:t>
            </a:r>
          </a:p>
          <a:p>
            <a:r>
              <a:rPr lang="en-US" dirty="0" err="1"/>
              <a:t>erenced</a:t>
            </a:r>
            <a:r>
              <a:rPr lang="en-US" dirty="0"/>
              <a:t> in our Ledger table, which is where we track all sales. The rows in the Ledger</a:t>
            </a:r>
          </a:p>
          <a:p>
            <a:r>
              <a:rPr lang="en-US" dirty="0"/>
              <a:t>table record the date on which something is sold, along with an identifier that refers</a:t>
            </a:r>
          </a:p>
          <a:p>
            <a:r>
              <a:rPr lang="en-US" dirty="0"/>
              <a:t>to the item sold; the identifier in our example is called a SKU (stock keeping unit), a</a:t>
            </a:r>
          </a:p>
          <a:p>
            <a:r>
              <a:rPr lang="en-US" dirty="0"/>
              <a:t>common practice in retail systems.3</a:t>
            </a:r>
          </a:p>
          <a:p>
            <a:r>
              <a:rPr lang="en-US" dirty="0"/>
              <a:t>At the end of each month, we need to generate a report outlining our best-selling</a:t>
            </a:r>
          </a:p>
          <a:p>
            <a:r>
              <a:rPr lang="en-US" dirty="0"/>
              <a:t>CDs. The Ledger table helps us understand which SKU sold the most copies, but the</a:t>
            </a:r>
          </a:p>
          <a:p>
            <a:r>
              <a:rPr lang="en-US" dirty="0"/>
              <a:t>information about that SKU is over in the Albums table. We want to make the reports</a:t>
            </a:r>
          </a:p>
          <a:p>
            <a:r>
              <a:rPr lang="en-US" dirty="0"/>
              <a:t>nice and easy to read, so rather than saying, “We sold 400 copies of SKU 123 and</a:t>
            </a:r>
          </a:p>
          <a:p>
            <a:r>
              <a:rPr lang="en-US" dirty="0"/>
              <a:t>made $1,596,” we’d add more information about what was sold, saying instead, “We</a:t>
            </a:r>
          </a:p>
          <a:p>
            <a:r>
              <a:rPr lang="en-US" dirty="0"/>
              <a:t>sold 400 copies of Now That’s What I Call Death Polka and made $1,596.” To do this,</a:t>
            </a:r>
          </a:p>
          <a:p>
            <a:r>
              <a:rPr lang="en-US" dirty="0"/>
              <a:t>the database query triggered by our finance code needs to join information from the</a:t>
            </a:r>
          </a:p>
          <a:p>
            <a:r>
              <a:rPr lang="en-US" dirty="0"/>
              <a:t>Ledger table to the Albums table, as Figure 3-6 shows.</a:t>
            </a:r>
          </a:p>
          <a:p>
            <a:endParaRPr lang="en-US" dirty="0"/>
          </a:p>
        </p:txBody>
      </p:sp>
      <p:sp>
        <p:nvSpPr>
          <p:cNvPr id="4" name="Slide Number Placeholder 3"/>
          <p:cNvSpPr>
            <a:spLocks noGrp="1"/>
          </p:cNvSpPr>
          <p:nvPr>
            <p:ph type="sldNum" sz="quarter" idx="5"/>
          </p:nvPr>
        </p:nvSpPr>
        <p:spPr/>
        <p:txBody>
          <a:bodyPr/>
          <a:lstStyle/>
          <a:p>
            <a:fld id="{9CD07D1E-5783-4DEF-9A7B-C4BC31FB513B}" type="slidenum">
              <a:rPr lang="en-US" smtClean="0"/>
              <a:t>11</a:t>
            </a:fld>
            <a:endParaRPr lang="en-US"/>
          </a:p>
        </p:txBody>
      </p:sp>
    </p:spTree>
    <p:extLst>
      <p:ext uri="{BB962C8B-B14F-4D97-AF65-F5344CB8AC3E}">
        <p14:creationId xmlns:p14="http://schemas.microsoft.com/office/powerpoint/2010/main" val="2746843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new microservice-based world, our new Finance microservice has the </a:t>
            </a:r>
            <a:r>
              <a:rPr lang="en-US" dirty="0" err="1"/>
              <a:t>respon</a:t>
            </a:r>
            <a:r>
              <a:rPr lang="en-US" dirty="0"/>
              <a:t>‐</a:t>
            </a:r>
          </a:p>
          <a:p>
            <a:r>
              <a:rPr lang="en-US" dirty="0" err="1"/>
              <a:t>sibility</a:t>
            </a:r>
            <a:r>
              <a:rPr lang="en-US" dirty="0"/>
              <a:t> of generating the bestsellers report but doesn’t have the album data locally. So</a:t>
            </a:r>
          </a:p>
          <a:p>
            <a:r>
              <a:rPr lang="en-US" dirty="0"/>
              <a:t>it will need to fetch this data from our new Catalog microservice, as shown in</a:t>
            </a:r>
          </a:p>
          <a:p>
            <a:r>
              <a:rPr lang="en-US" dirty="0"/>
              <a:t>Figure 3-7. When generating the report, the Finance microservice first queries the</a:t>
            </a:r>
          </a:p>
          <a:p>
            <a:r>
              <a:rPr lang="en-US" dirty="0"/>
              <a:t>Ledger table, extracting the list of best-selling SKUs for the last month. At this point,</a:t>
            </a:r>
          </a:p>
          <a:p>
            <a:r>
              <a:rPr lang="en-US" dirty="0"/>
              <a:t>the only information we have locally is a list of SKUs and the number of copies sold</a:t>
            </a:r>
          </a:p>
          <a:p>
            <a:r>
              <a:rPr lang="en-US" dirty="0"/>
              <a:t>for each SKU.</a:t>
            </a:r>
          </a:p>
          <a:p>
            <a:r>
              <a:rPr lang="en-US" dirty="0"/>
              <a:t>Next, we need to call the Catalog microservice, requesting information on each of these SKUs. This request in turn will cause the Catalog microservice to make its own local SELECT on its own database. </a:t>
            </a:r>
          </a:p>
          <a:p>
            <a:r>
              <a:rPr lang="en-US" dirty="0"/>
              <a:t>Logically, the join operation is still happening, but it is now happening inside the Finance microservice rather than in the database. The join has gone from the data tier to the application code tier. </a:t>
            </a:r>
          </a:p>
        </p:txBody>
      </p:sp>
      <p:sp>
        <p:nvSpPr>
          <p:cNvPr id="4" name="Slide Number Placeholder 3"/>
          <p:cNvSpPr>
            <a:spLocks noGrp="1"/>
          </p:cNvSpPr>
          <p:nvPr>
            <p:ph type="sldNum" sz="quarter" idx="5"/>
          </p:nvPr>
        </p:nvSpPr>
        <p:spPr/>
        <p:txBody>
          <a:bodyPr/>
          <a:lstStyle/>
          <a:p>
            <a:fld id="{9CD07D1E-5783-4DEF-9A7B-C4BC31FB513B}" type="slidenum">
              <a:rPr lang="en-US" smtClean="0"/>
              <a:t>12</a:t>
            </a:fld>
            <a:endParaRPr lang="en-US"/>
          </a:p>
        </p:txBody>
      </p:sp>
    </p:spTree>
    <p:extLst>
      <p:ext uri="{BB962C8B-B14F-4D97-AF65-F5344CB8AC3E}">
        <p14:creationId xmlns:p14="http://schemas.microsoft.com/office/powerpoint/2010/main" val="803013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reporting database, we instead create a dedicated database that is designed for external access, and we make it the responsibility of the microservice to push data from internal storage to the externally accessible reporting database, as seen in Figure 3-8. </a:t>
            </a:r>
          </a:p>
          <a:p>
            <a:r>
              <a:rPr lang="en-US" dirty="0"/>
              <a:t>The reporting database allows us to hide internal state management, while still pre‐ </a:t>
            </a:r>
            <a:r>
              <a:rPr lang="en-US" dirty="0" err="1"/>
              <a:t>senting</a:t>
            </a:r>
            <a:r>
              <a:rPr lang="en-US" dirty="0"/>
              <a:t> the data in a database—something which can be very useful. For example, you might want to allow people to run off ad hoc defined SQL queries, run large-scale joins, or make use of existing toolchains that expect to have access to a SQL endpoint. The reporting database is a nice solution to this problem</a:t>
            </a:r>
          </a:p>
        </p:txBody>
      </p:sp>
      <p:sp>
        <p:nvSpPr>
          <p:cNvPr id="4" name="Slide Number Placeholder 3"/>
          <p:cNvSpPr>
            <a:spLocks noGrp="1"/>
          </p:cNvSpPr>
          <p:nvPr>
            <p:ph type="sldNum" sz="quarter" idx="5"/>
          </p:nvPr>
        </p:nvSpPr>
        <p:spPr/>
        <p:txBody>
          <a:bodyPr/>
          <a:lstStyle/>
          <a:p>
            <a:fld id="{9CD07D1E-5783-4DEF-9A7B-C4BC31FB513B}" type="slidenum">
              <a:rPr lang="en-US" smtClean="0"/>
              <a:t>16</a:t>
            </a:fld>
            <a:endParaRPr lang="en-US"/>
          </a:p>
        </p:txBody>
      </p:sp>
    </p:spTree>
    <p:extLst>
      <p:ext uri="{BB962C8B-B14F-4D97-AF65-F5344CB8AC3E}">
        <p14:creationId xmlns:p14="http://schemas.microsoft.com/office/powerpoint/2010/main" val="918534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D07D1E-5783-4DEF-9A7B-C4BC31FB513B}" type="slidenum">
              <a:rPr lang="en-US" smtClean="0"/>
              <a:t>17</a:t>
            </a:fld>
            <a:endParaRPr lang="en-US"/>
          </a:p>
        </p:txBody>
      </p:sp>
    </p:spTree>
    <p:extLst>
      <p:ext uri="{BB962C8B-B14F-4D97-AF65-F5344CB8AC3E}">
        <p14:creationId xmlns:p14="http://schemas.microsoft.com/office/powerpoint/2010/main" val="2828746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78434-E755-E5B7-C562-B069A5D2C6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C85866-ADB3-E737-CA36-F89D4C4CDC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F2A069-1371-CD2E-D8C0-B5306860E52B}"/>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5" name="Footer Placeholder 4">
            <a:extLst>
              <a:ext uri="{FF2B5EF4-FFF2-40B4-BE49-F238E27FC236}">
                <a16:creationId xmlns:a16="http://schemas.microsoft.com/office/drawing/2014/main" id="{9DEB7A3F-B96A-6CE2-E6DD-EA97125B4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323130-FB80-15B2-DEB1-C48A3F816735}"/>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3483066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8838B-89A0-2773-5614-71DB9A03B7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D6920F-32EC-7C2F-EBCF-7DCEA2843B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F05D2B-2377-E7DF-1119-A577549218EC}"/>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5" name="Footer Placeholder 4">
            <a:extLst>
              <a:ext uri="{FF2B5EF4-FFF2-40B4-BE49-F238E27FC236}">
                <a16:creationId xmlns:a16="http://schemas.microsoft.com/office/drawing/2014/main" id="{16A07F70-1106-FBCF-8B9E-DE283A1E9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FC144F-1A96-61B5-3D10-C53D916FE3F6}"/>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2317930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E5D84-D28C-8019-61FB-D51FDB6081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8610BA-F818-64D0-BB0E-732989C19E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C48883-1800-92AC-50AD-77226AA610CC}"/>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5" name="Footer Placeholder 4">
            <a:extLst>
              <a:ext uri="{FF2B5EF4-FFF2-40B4-BE49-F238E27FC236}">
                <a16:creationId xmlns:a16="http://schemas.microsoft.com/office/drawing/2014/main" id="{05D8743E-C5A5-BC96-4595-291D47B2B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C88322-F091-D802-046E-39EA5AB3C622}"/>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1440102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B0141-FF58-8812-CC90-50A8FB6ECC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FA17FC-517D-CC32-4B39-DA3229B36A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F481CB-CEBB-C671-766C-52CE538E40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9E0F77-EE7C-D793-61DA-437550820FFC}"/>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6" name="Footer Placeholder 5">
            <a:extLst>
              <a:ext uri="{FF2B5EF4-FFF2-40B4-BE49-F238E27FC236}">
                <a16:creationId xmlns:a16="http://schemas.microsoft.com/office/drawing/2014/main" id="{75AB6920-C54D-B39F-ABB9-7A8A78FD5B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78DC98-0A58-4059-2C87-19CBD287555E}"/>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520847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7D542-F846-CCDC-D4A9-9A8E7B5BB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07138D-9100-5295-9E80-82378DAFDF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1510CA-5985-1928-7B29-24F3068F63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5CFD11-A70B-305A-7498-AB637CC023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2D3F4E-5039-2E18-CC84-2422A2F4CA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D83CD3-BFE7-8F82-134A-A3EB401267F4}"/>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8" name="Footer Placeholder 7">
            <a:extLst>
              <a:ext uri="{FF2B5EF4-FFF2-40B4-BE49-F238E27FC236}">
                <a16:creationId xmlns:a16="http://schemas.microsoft.com/office/drawing/2014/main" id="{0E2007DD-B959-8D5B-9A32-387F212F1C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F52EB0-36E3-AF77-3262-0CE85926480C}"/>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3711051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E2B88-C75B-77E2-004C-F4CC3E02B8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37B52B-D650-5D0E-081F-18A4DC42B6EA}"/>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4" name="Footer Placeholder 3">
            <a:extLst>
              <a:ext uri="{FF2B5EF4-FFF2-40B4-BE49-F238E27FC236}">
                <a16:creationId xmlns:a16="http://schemas.microsoft.com/office/drawing/2014/main" id="{4B604AF9-5393-825E-08C6-AD673B30FD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B16B2-F34C-F069-028D-9CE4F34C1790}"/>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281269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0E4F2A-CF81-663D-262C-C4A9523BF86A}"/>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3" name="Footer Placeholder 2">
            <a:extLst>
              <a:ext uri="{FF2B5EF4-FFF2-40B4-BE49-F238E27FC236}">
                <a16:creationId xmlns:a16="http://schemas.microsoft.com/office/drawing/2014/main" id="{7F48866E-1A64-9B7B-BE83-AD50F9B907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D585FF-560F-32FE-0B50-8AB2036199D8}"/>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3056571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9CAC3-D417-7098-6BE9-E55A1E9DE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D92870-C55F-89CC-EABA-C86A8D3C07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73AA0E-6370-696E-823F-6CD6B914F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4431DF-95A6-CBEA-3B20-3E09F7FF42F3}"/>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6" name="Footer Placeholder 5">
            <a:extLst>
              <a:ext uri="{FF2B5EF4-FFF2-40B4-BE49-F238E27FC236}">
                <a16:creationId xmlns:a16="http://schemas.microsoft.com/office/drawing/2014/main" id="{B9BE8AF3-7AC0-4A91-6B09-D2FCFE571D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C87F2C-60C4-F9AE-F23A-118629A08E28}"/>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1070774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55749-32B5-6FDA-3F79-66671B6AE6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0A8890-B367-12AA-752F-08D2329249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32F122-0DD6-8EB4-6B10-48649083E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170C59-C1BF-E44A-3BDF-89D402DE91AF}"/>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6" name="Footer Placeholder 5">
            <a:extLst>
              <a:ext uri="{FF2B5EF4-FFF2-40B4-BE49-F238E27FC236}">
                <a16:creationId xmlns:a16="http://schemas.microsoft.com/office/drawing/2014/main" id="{233B1E9B-ACEA-FCB2-F2A3-25E78CFCCA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23A1BB-CC9E-3C41-FF5E-33CDD7027F2D}"/>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24327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D5414-D787-CCAF-0A4B-E4A7555CFF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6A329B-05EE-2A8F-0855-AB9B134CA1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108D4A-8065-FEEA-8C78-02503272ABFA}"/>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5" name="Footer Placeholder 4">
            <a:extLst>
              <a:ext uri="{FF2B5EF4-FFF2-40B4-BE49-F238E27FC236}">
                <a16:creationId xmlns:a16="http://schemas.microsoft.com/office/drawing/2014/main" id="{47FEBE2B-1DE8-5E82-A228-14C125E8FA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9F36E-B720-5443-B8BC-BB25D51685AC}"/>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130735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861223-890A-5DAC-9701-1FE383B820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361DA9-0290-7961-D97D-8B8C36CE28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5AE575-8D07-4920-952E-610A78C269BD}"/>
              </a:ext>
            </a:extLst>
          </p:cNvPr>
          <p:cNvSpPr>
            <a:spLocks noGrp="1"/>
          </p:cNvSpPr>
          <p:nvPr>
            <p:ph type="dt" sz="half" idx="10"/>
          </p:nvPr>
        </p:nvSpPr>
        <p:spPr/>
        <p:txBody>
          <a:bodyPr/>
          <a:lstStyle/>
          <a:p>
            <a:fld id="{3E47C339-CF66-4637-99FD-E18CA9DEC9CF}" type="datetimeFigureOut">
              <a:rPr lang="en-US" smtClean="0"/>
              <a:t>25/05/2023</a:t>
            </a:fld>
            <a:endParaRPr lang="en-US"/>
          </a:p>
        </p:txBody>
      </p:sp>
      <p:sp>
        <p:nvSpPr>
          <p:cNvPr id="5" name="Footer Placeholder 4">
            <a:extLst>
              <a:ext uri="{FF2B5EF4-FFF2-40B4-BE49-F238E27FC236}">
                <a16:creationId xmlns:a16="http://schemas.microsoft.com/office/drawing/2014/main" id="{2496ECE8-711F-C306-9BE8-BF20F249D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3350F5-E2AF-D69C-FB5F-EF2600D5E986}"/>
              </a:ext>
            </a:extLst>
          </p:cNvPr>
          <p:cNvSpPr>
            <a:spLocks noGrp="1"/>
          </p:cNvSpPr>
          <p:nvPr>
            <p:ph type="sldNum" sz="quarter" idx="12"/>
          </p:nvPr>
        </p:nvSpPr>
        <p:spPr/>
        <p:txBody>
          <a:bodyPr/>
          <a:lstStyle/>
          <a:p>
            <a:fld id="{3D671DFC-BCD2-4C7C-BD9B-69A64AA96977}" type="slidenum">
              <a:rPr lang="en-US" smtClean="0"/>
              <a:t>‹#›</a:t>
            </a:fld>
            <a:endParaRPr lang="en-US"/>
          </a:p>
        </p:txBody>
      </p:sp>
    </p:spTree>
    <p:extLst>
      <p:ext uri="{BB962C8B-B14F-4D97-AF65-F5344CB8AC3E}">
        <p14:creationId xmlns:p14="http://schemas.microsoft.com/office/powerpoint/2010/main" val="3950133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A3EDC9-9546-D4DC-BDDA-162CAE7531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5D0DAC-3E74-D6BA-BAE5-73E26CAED2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F83D52-5030-6BDB-48BB-FD9F6E8659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47C339-CF66-4637-99FD-E18CA9DEC9CF}" type="datetimeFigureOut">
              <a:rPr lang="en-US" smtClean="0"/>
              <a:t>25/05/2023</a:t>
            </a:fld>
            <a:endParaRPr lang="en-US"/>
          </a:p>
        </p:txBody>
      </p:sp>
      <p:sp>
        <p:nvSpPr>
          <p:cNvPr id="5" name="Footer Placeholder 4">
            <a:extLst>
              <a:ext uri="{FF2B5EF4-FFF2-40B4-BE49-F238E27FC236}">
                <a16:creationId xmlns:a16="http://schemas.microsoft.com/office/drawing/2014/main" id="{CDDD50BF-C41C-CDE8-8393-96E6BE7051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F952B3-603E-0F0A-D75A-CA12202A93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671DFC-BCD2-4C7C-BD9B-69A64AA96977}" type="slidenum">
              <a:rPr lang="en-US" smtClean="0"/>
              <a:t>‹#›</a:t>
            </a:fld>
            <a:endParaRPr lang="en-US"/>
          </a:p>
        </p:txBody>
      </p:sp>
    </p:spTree>
    <p:extLst>
      <p:ext uri="{BB962C8B-B14F-4D97-AF65-F5344CB8AC3E}">
        <p14:creationId xmlns:p14="http://schemas.microsoft.com/office/powerpoint/2010/main" val="3871568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F1F03-E484-94CF-C6B0-DD4A58613737}"/>
              </a:ext>
            </a:extLst>
          </p:cNvPr>
          <p:cNvSpPr>
            <a:spLocks noGrp="1"/>
          </p:cNvSpPr>
          <p:nvPr>
            <p:ph type="ctrTitle"/>
          </p:nvPr>
        </p:nvSpPr>
        <p:spPr/>
        <p:txBody>
          <a:bodyPr/>
          <a:lstStyle/>
          <a:p>
            <a:r>
              <a:rPr lang="en-US" dirty="0"/>
              <a:t>Splitting the Monolith</a:t>
            </a:r>
          </a:p>
        </p:txBody>
      </p:sp>
      <p:sp>
        <p:nvSpPr>
          <p:cNvPr id="3" name="Subtitle 2">
            <a:extLst>
              <a:ext uri="{FF2B5EF4-FFF2-40B4-BE49-F238E27FC236}">
                <a16:creationId xmlns:a16="http://schemas.microsoft.com/office/drawing/2014/main" id="{19963D93-06D6-FE15-3089-EC26929ED230}"/>
              </a:ext>
            </a:extLst>
          </p:cNvPr>
          <p:cNvSpPr>
            <a:spLocks noGrp="1"/>
          </p:cNvSpPr>
          <p:nvPr>
            <p:ph type="subTitle" idx="1"/>
          </p:nvPr>
        </p:nvSpPr>
        <p:spPr/>
        <p:txBody>
          <a:bodyPr/>
          <a:lstStyle/>
          <a:p>
            <a:r>
              <a:rPr lang="en-US" dirty="0"/>
              <a:t>Chapter 3</a:t>
            </a:r>
          </a:p>
        </p:txBody>
      </p:sp>
    </p:spTree>
    <p:extLst>
      <p:ext uri="{BB962C8B-B14F-4D97-AF65-F5344CB8AC3E}">
        <p14:creationId xmlns:p14="http://schemas.microsoft.com/office/powerpoint/2010/main" val="863980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DF063-7758-A0E9-6BAA-F612BFADD26C}"/>
              </a:ext>
            </a:extLst>
          </p:cNvPr>
          <p:cNvSpPr>
            <a:spLocks noGrp="1"/>
          </p:cNvSpPr>
          <p:nvPr>
            <p:ph type="title"/>
          </p:nvPr>
        </p:nvSpPr>
        <p:spPr/>
        <p:txBody>
          <a:bodyPr/>
          <a:lstStyle/>
          <a:p>
            <a:r>
              <a:rPr lang="en-US" dirty="0"/>
              <a:t>What to Split First?</a:t>
            </a:r>
          </a:p>
        </p:txBody>
      </p:sp>
      <p:sp>
        <p:nvSpPr>
          <p:cNvPr id="3" name="Content Placeholder 2">
            <a:extLst>
              <a:ext uri="{FF2B5EF4-FFF2-40B4-BE49-F238E27FC236}">
                <a16:creationId xmlns:a16="http://schemas.microsoft.com/office/drawing/2014/main" id="{D402060E-0A9D-EB2D-CA8C-372FFC8DBB42}"/>
              </a:ext>
            </a:extLst>
          </p:cNvPr>
          <p:cNvSpPr>
            <a:spLocks noGrp="1"/>
          </p:cNvSpPr>
          <p:nvPr>
            <p:ph idx="1"/>
          </p:nvPr>
        </p:nvSpPr>
        <p:spPr/>
        <p:txBody>
          <a:bodyPr/>
          <a:lstStyle/>
          <a:p>
            <a:r>
              <a:rPr lang="en-US" dirty="0"/>
              <a:t>the decision about which functionality to split into a microservice will end up being a balance between these two forces</a:t>
            </a:r>
          </a:p>
          <a:p>
            <a:r>
              <a:rPr lang="en-US" b="1" dirty="0"/>
              <a:t>how easy the extraction </a:t>
            </a:r>
            <a:r>
              <a:rPr lang="en-US" dirty="0"/>
              <a:t>is versus </a:t>
            </a:r>
            <a:r>
              <a:rPr lang="en-US" b="1" dirty="0"/>
              <a:t>the benefit of extracting the microservice in the first place.</a:t>
            </a:r>
          </a:p>
        </p:txBody>
      </p:sp>
    </p:spTree>
    <p:extLst>
      <p:ext uri="{BB962C8B-B14F-4D97-AF65-F5344CB8AC3E}">
        <p14:creationId xmlns:p14="http://schemas.microsoft.com/office/powerpoint/2010/main" val="433104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9EE15-F091-CF95-C3EC-E7FAE4C53300}"/>
              </a:ext>
            </a:extLst>
          </p:cNvPr>
          <p:cNvSpPr>
            <a:spLocks noGrp="1"/>
          </p:cNvSpPr>
          <p:nvPr>
            <p:ph type="title"/>
          </p:nvPr>
        </p:nvSpPr>
        <p:spPr/>
        <p:txBody>
          <a:bodyPr/>
          <a:lstStyle/>
          <a:p>
            <a:r>
              <a:rPr lang="en-US" dirty="0"/>
              <a:t>Decomposition by Layer</a:t>
            </a:r>
          </a:p>
        </p:txBody>
      </p:sp>
      <p:pic>
        <p:nvPicPr>
          <p:cNvPr id="5" name="Content Placeholder 4">
            <a:extLst>
              <a:ext uri="{FF2B5EF4-FFF2-40B4-BE49-F238E27FC236}">
                <a16:creationId xmlns:a16="http://schemas.microsoft.com/office/drawing/2014/main" id="{296FF2FD-44F5-F4D6-C371-F9EA71196981}"/>
              </a:ext>
            </a:extLst>
          </p:cNvPr>
          <p:cNvPicPr>
            <a:picLocks noGrp="1" noChangeAspect="1"/>
          </p:cNvPicPr>
          <p:nvPr>
            <p:ph idx="1"/>
          </p:nvPr>
        </p:nvPicPr>
        <p:blipFill>
          <a:blip r:embed="rId3"/>
          <a:stretch>
            <a:fillRect/>
          </a:stretch>
        </p:blipFill>
        <p:spPr>
          <a:xfrm>
            <a:off x="1366610" y="1690687"/>
            <a:ext cx="9115262" cy="4802187"/>
          </a:xfrm>
        </p:spPr>
      </p:pic>
    </p:spTree>
    <p:extLst>
      <p:ext uri="{BB962C8B-B14F-4D97-AF65-F5344CB8AC3E}">
        <p14:creationId xmlns:p14="http://schemas.microsoft.com/office/powerpoint/2010/main" val="2385975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4A6C-1DFA-B6EB-22E3-9A837F82B7BF}"/>
              </a:ext>
            </a:extLst>
          </p:cNvPr>
          <p:cNvSpPr>
            <a:spLocks noGrp="1"/>
          </p:cNvSpPr>
          <p:nvPr>
            <p:ph type="title"/>
          </p:nvPr>
        </p:nvSpPr>
        <p:spPr/>
        <p:txBody>
          <a:bodyPr/>
          <a:lstStyle/>
          <a:p>
            <a:r>
              <a:rPr lang="en-US" dirty="0"/>
              <a:t>Decomposition by Layer – Code First</a:t>
            </a:r>
          </a:p>
        </p:txBody>
      </p:sp>
      <p:pic>
        <p:nvPicPr>
          <p:cNvPr id="5" name="Picture 4">
            <a:extLst>
              <a:ext uri="{FF2B5EF4-FFF2-40B4-BE49-F238E27FC236}">
                <a16:creationId xmlns:a16="http://schemas.microsoft.com/office/drawing/2014/main" id="{22710EA5-DE0A-23F5-DB47-E7628F11AD74}"/>
              </a:ext>
            </a:extLst>
          </p:cNvPr>
          <p:cNvPicPr>
            <a:picLocks noChangeAspect="1"/>
          </p:cNvPicPr>
          <p:nvPr/>
        </p:nvPicPr>
        <p:blipFill>
          <a:blip r:embed="rId3"/>
          <a:stretch>
            <a:fillRect/>
          </a:stretch>
        </p:blipFill>
        <p:spPr>
          <a:xfrm>
            <a:off x="2118811" y="1805489"/>
            <a:ext cx="7954378" cy="4460043"/>
          </a:xfrm>
          <a:prstGeom prst="rect">
            <a:avLst/>
          </a:prstGeom>
        </p:spPr>
      </p:pic>
    </p:spTree>
    <p:extLst>
      <p:ext uri="{BB962C8B-B14F-4D97-AF65-F5344CB8AC3E}">
        <p14:creationId xmlns:p14="http://schemas.microsoft.com/office/powerpoint/2010/main" val="2695525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4A6C-1DFA-B6EB-22E3-9A837F82B7BF}"/>
              </a:ext>
            </a:extLst>
          </p:cNvPr>
          <p:cNvSpPr>
            <a:spLocks noGrp="1"/>
          </p:cNvSpPr>
          <p:nvPr>
            <p:ph type="title"/>
          </p:nvPr>
        </p:nvSpPr>
        <p:spPr/>
        <p:txBody>
          <a:bodyPr/>
          <a:lstStyle/>
          <a:p>
            <a:r>
              <a:rPr lang="en-US" dirty="0"/>
              <a:t>Decomposition by Layer – Data First</a:t>
            </a:r>
          </a:p>
        </p:txBody>
      </p:sp>
      <p:pic>
        <p:nvPicPr>
          <p:cNvPr id="4" name="Picture 3">
            <a:extLst>
              <a:ext uri="{FF2B5EF4-FFF2-40B4-BE49-F238E27FC236}">
                <a16:creationId xmlns:a16="http://schemas.microsoft.com/office/drawing/2014/main" id="{14FA4E43-21B2-4D0D-29A5-972D32FCCDB9}"/>
              </a:ext>
            </a:extLst>
          </p:cNvPr>
          <p:cNvPicPr>
            <a:picLocks noChangeAspect="1"/>
          </p:cNvPicPr>
          <p:nvPr/>
        </p:nvPicPr>
        <p:blipFill>
          <a:blip r:embed="rId3"/>
          <a:stretch>
            <a:fillRect/>
          </a:stretch>
        </p:blipFill>
        <p:spPr>
          <a:xfrm>
            <a:off x="1982737" y="1747837"/>
            <a:ext cx="8226525" cy="4745038"/>
          </a:xfrm>
          <a:prstGeom prst="rect">
            <a:avLst/>
          </a:prstGeom>
        </p:spPr>
      </p:pic>
    </p:spTree>
    <p:extLst>
      <p:ext uri="{BB962C8B-B14F-4D97-AF65-F5344CB8AC3E}">
        <p14:creationId xmlns:p14="http://schemas.microsoft.com/office/powerpoint/2010/main" val="2390609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843846-F03A-1551-D921-300A0D7A6733}"/>
              </a:ext>
            </a:extLst>
          </p:cNvPr>
          <p:cNvSpPr>
            <a:spLocks noGrp="1"/>
          </p:cNvSpPr>
          <p:nvPr>
            <p:ph type="title"/>
          </p:nvPr>
        </p:nvSpPr>
        <p:spPr/>
        <p:txBody>
          <a:bodyPr/>
          <a:lstStyle/>
          <a:p>
            <a:r>
              <a:rPr lang="en-US" dirty="0"/>
              <a:t>Useful </a:t>
            </a:r>
            <a:r>
              <a:rPr lang="en-US" dirty="0" err="1"/>
              <a:t>Decompositional</a:t>
            </a:r>
            <a:r>
              <a:rPr lang="en-US" dirty="0"/>
              <a:t> Patterns</a:t>
            </a:r>
          </a:p>
        </p:txBody>
      </p:sp>
      <p:sp>
        <p:nvSpPr>
          <p:cNvPr id="5" name="Text Placeholder 4">
            <a:extLst>
              <a:ext uri="{FF2B5EF4-FFF2-40B4-BE49-F238E27FC236}">
                <a16:creationId xmlns:a16="http://schemas.microsoft.com/office/drawing/2014/main" id="{05EFCC06-568C-546B-A899-65EC39FA5FD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9427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F891B-D654-0F8D-AE16-4144D37A154C}"/>
              </a:ext>
            </a:extLst>
          </p:cNvPr>
          <p:cNvSpPr>
            <a:spLocks noGrp="1"/>
          </p:cNvSpPr>
          <p:nvPr>
            <p:ph type="title"/>
          </p:nvPr>
        </p:nvSpPr>
        <p:spPr/>
        <p:txBody>
          <a:bodyPr/>
          <a:lstStyle/>
          <a:p>
            <a:r>
              <a:rPr lang="en-US" dirty="0"/>
              <a:t>Strangler Fig Pattern</a:t>
            </a:r>
          </a:p>
        </p:txBody>
      </p:sp>
      <p:pic>
        <p:nvPicPr>
          <p:cNvPr id="5" name="Content Placeholder 4">
            <a:extLst>
              <a:ext uri="{FF2B5EF4-FFF2-40B4-BE49-F238E27FC236}">
                <a16:creationId xmlns:a16="http://schemas.microsoft.com/office/drawing/2014/main" id="{C4AA1C64-9661-8233-0976-A52305BA2300}"/>
              </a:ext>
            </a:extLst>
          </p:cNvPr>
          <p:cNvPicPr>
            <a:picLocks noGrp="1" noChangeAspect="1"/>
          </p:cNvPicPr>
          <p:nvPr>
            <p:ph idx="1"/>
          </p:nvPr>
        </p:nvPicPr>
        <p:blipFill>
          <a:blip r:embed="rId3"/>
          <a:stretch>
            <a:fillRect/>
          </a:stretch>
        </p:blipFill>
        <p:spPr>
          <a:xfrm>
            <a:off x="3143250" y="2277269"/>
            <a:ext cx="5905500" cy="3448050"/>
          </a:xfrm>
        </p:spPr>
      </p:pic>
    </p:spTree>
    <p:extLst>
      <p:ext uri="{BB962C8B-B14F-4D97-AF65-F5344CB8AC3E}">
        <p14:creationId xmlns:p14="http://schemas.microsoft.com/office/powerpoint/2010/main" val="3708178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4EE9A-F269-B438-585D-957CD7E15CD6}"/>
              </a:ext>
            </a:extLst>
          </p:cNvPr>
          <p:cNvSpPr>
            <a:spLocks noGrp="1"/>
          </p:cNvSpPr>
          <p:nvPr>
            <p:ph type="title"/>
          </p:nvPr>
        </p:nvSpPr>
        <p:spPr/>
        <p:txBody>
          <a:bodyPr/>
          <a:lstStyle/>
          <a:p>
            <a:r>
              <a:rPr lang="en-US" dirty="0"/>
              <a:t>Parallel Run</a:t>
            </a:r>
          </a:p>
        </p:txBody>
      </p:sp>
      <p:sp>
        <p:nvSpPr>
          <p:cNvPr id="3" name="Content Placeholder 2">
            <a:extLst>
              <a:ext uri="{FF2B5EF4-FFF2-40B4-BE49-F238E27FC236}">
                <a16:creationId xmlns:a16="http://schemas.microsoft.com/office/drawing/2014/main" id="{237AA15F-0D6E-61FD-FE91-F7ABB646C505}"/>
              </a:ext>
            </a:extLst>
          </p:cNvPr>
          <p:cNvSpPr>
            <a:spLocks noGrp="1"/>
          </p:cNvSpPr>
          <p:nvPr>
            <p:ph idx="1"/>
          </p:nvPr>
        </p:nvSpPr>
        <p:spPr/>
        <p:txBody>
          <a:bodyPr/>
          <a:lstStyle/>
          <a:p>
            <a:r>
              <a:rPr lang="en-US" dirty="0"/>
              <a:t>Running both your monolithic implementation of the functionality and the new microservice implementation side by side, serving the same requests, and comparing the results.</a:t>
            </a:r>
          </a:p>
          <a:p>
            <a:endParaRPr lang="en-US" dirty="0"/>
          </a:p>
        </p:txBody>
      </p:sp>
    </p:spTree>
    <p:extLst>
      <p:ext uri="{BB962C8B-B14F-4D97-AF65-F5344CB8AC3E}">
        <p14:creationId xmlns:p14="http://schemas.microsoft.com/office/powerpoint/2010/main" val="571495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8815A-F790-1B24-5ABE-7221CD460BCE}"/>
              </a:ext>
            </a:extLst>
          </p:cNvPr>
          <p:cNvSpPr>
            <a:spLocks noGrp="1"/>
          </p:cNvSpPr>
          <p:nvPr>
            <p:ph type="title"/>
          </p:nvPr>
        </p:nvSpPr>
        <p:spPr/>
        <p:txBody>
          <a:bodyPr/>
          <a:lstStyle/>
          <a:p>
            <a:r>
              <a:rPr lang="en-US" dirty="0"/>
              <a:t>Feature Toggle</a:t>
            </a:r>
          </a:p>
        </p:txBody>
      </p:sp>
      <p:sp>
        <p:nvSpPr>
          <p:cNvPr id="3" name="Content Placeholder 2">
            <a:extLst>
              <a:ext uri="{FF2B5EF4-FFF2-40B4-BE49-F238E27FC236}">
                <a16:creationId xmlns:a16="http://schemas.microsoft.com/office/drawing/2014/main" id="{E4084A1E-9BF2-553A-9677-8FD35070EDB3}"/>
              </a:ext>
            </a:extLst>
          </p:cNvPr>
          <p:cNvSpPr>
            <a:spLocks noGrp="1"/>
          </p:cNvSpPr>
          <p:nvPr>
            <p:ph idx="1"/>
          </p:nvPr>
        </p:nvSpPr>
        <p:spPr/>
        <p:txBody>
          <a:bodyPr/>
          <a:lstStyle/>
          <a:p>
            <a:r>
              <a:rPr lang="en-US" dirty="0"/>
              <a:t>A feature toggle is a mechanism that allows a feature to be switched off or on, or to switch between two different implementations of some functionality. </a:t>
            </a:r>
          </a:p>
        </p:txBody>
      </p:sp>
    </p:spTree>
    <p:extLst>
      <p:ext uri="{BB962C8B-B14F-4D97-AF65-F5344CB8AC3E}">
        <p14:creationId xmlns:p14="http://schemas.microsoft.com/office/powerpoint/2010/main" val="1830178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9EA556-E8C3-2321-B853-59554EEA3D0C}"/>
              </a:ext>
            </a:extLst>
          </p:cNvPr>
          <p:cNvSpPr>
            <a:spLocks noGrp="1"/>
          </p:cNvSpPr>
          <p:nvPr>
            <p:ph type="title"/>
          </p:nvPr>
        </p:nvSpPr>
        <p:spPr/>
        <p:txBody>
          <a:bodyPr/>
          <a:lstStyle/>
          <a:p>
            <a:r>
              <a:rPr lang="en-US" dirty="0"/>
              <a:t>Data Decomposition Concerns</a:t>
            </a:r>
          </a:p>
        </p:txBody>
      </p:sp>
      <p:sp>
        <p:nvSpPr>
          <p:cNvPr id="5" name="Text Placeholder 4">
            <a:extLst>
              <a:ext uri="{FF2B5EF4-FFF2-40B4-BE49-F238E27FC236}">
                <a16:creationId xmlns:a16="http://schemas.microsoft.com/office/drawing/2014/main" id="{9A15CB18-5AA8-39FA-B175-536487219CC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86988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78EE5-A789-228E-5AAB-4AF706BC84CE}"/>
              </a:ext>
            </a:extLst>
          </p:cNvPr>
          <p:cNvSpPr>
            <a:spLocks noGrp="1"/>
          </p:cNvSpPr>
          <p:nvPr>
            <p:ph type="title"/>
          </p:nvPr>
        </p:nvSpPr>
        <p:spPr/>
        <p:txBody>
          <a:bodyPr/>
          <a:lstStyle/>
          <a:p>
            <a:r>
              <a:rPr lang="en-US" dirty="0"/>
              <a:t>Performance</a:t>
            </a:r>
          </a:p>
        </p:txBody>
      </p:sp>
      <p:pic>
        <p:nvPicPr>
          <p:cNvPr id="5" name="Content Placeholder 4">
            <a:extLst>
              <a:ext uri="{FF2B5EF4-FFF2-40B4-BE49-F238E27FC236}">
                <a16:creationId xmlns:a16="http://schemas.microsoft.com/office/drawing/2014/main" id="{B9A44C07-B7DC-C049-DCAB-CF6BC61D4FA6}"/>
              </a:ext>
            </a:extLst>
          </p:cNvPr>
          <p:cNvPicPr>
            <a:picLocks noGrp="1" noChangeAspect="1"/>
          </p:cNvPicPr>
          <p:nvPr>
            <p:ph idx="1"/>
          </p:nvPr>
        </p:nvPicPr>
        <p:blipFill>
          <a:blip r:embed="rId3"/>
          <a:stretch>
            <a:fillRect/>
          </a:stretch>
        </p:blipFill>
        <p:spPr>
          <a:xfrm>
            <a:off x="3128211" y="1825624"/>
            <a:ext cx="5658977" cy="4574953"/>
          </a:xfrm>
        </p:spPr>
      </p:pic>
    </p:spTree>
    <p:extLst>
      <p:ext uri="{BB962C8B-B14F-4D97-AF65-F5344CB8AC3E}">
        <p14:creationId xmlns:p14="http://schemas.microsoft.com/office/powerpoint/2010/main" val="3334380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9CD33-B8E3-2653-ED85-0698BCA1B167}"/>
              </a:ext>
            </a:extLst>
          </p:cNvPr>
          <p:cNvSpPr>
            <a:spLocks noGrp="1"/>
          </p:cNvSpPr>
          <p:nvPr>
            <p:ph type="title"/>
          </p:nvPr>
        </p:nvSpPr>
        <p:spPr/>
        <p:txBody>
          <a:bodyPr/>
          <a:lstStyle/>
          <a:p>
            <a:r>
              <a:rPr lang="en-US" dirty="0"/>
              <a:t>Performance</a:t>
            </a:r>
          </a:p>
        </p:txBody>
      </p:sp>
      <p:pic>
        <p:nvPicPr>
          <p:cNvPr id="5" name="Content Placeholder 4">
            <a:extLst>
              <a:ext uri="{FF2B5EF4-FFF2-40B4-BE49-F238E27FC236}">
                <a16:creationId xmlns:a16="http://schemas.microsoft.com/office/drawing/2014/main" id="{9789A303-DAEE-2948-4BC8-560934520BAB}"/>
              </a:ext>
            </a:extLst>
          </p:cNvPr>
          <p:cNvPicPr>
            <a:picLocks noGrp="1" noChangeAspect="1"/>
          </p:cNvPicPr>
          <p:nvPr>
            <p:ph idx="1"/>
          </p:nvPr>
        </p:nvPicPr>
        <p:blipFill>
          <a:blip r:embed="rId3"/>
          <a:stretch>
            <a:fillRect/>
          </a:stretch>
        </p:blipFill>
        <p:spPr>
          <a:xfrm>
            <a:off x="2785948" y="2001044"/>
            <a:ext cx="6620103" cy="4491831"/>
          </a:xfrm>
        </p:spPr>
      </p:pic>
    </p:spTree>
    <p:extLst>
      <p:ext uri="{BB962C8B-B14F-4D97-AF65-F5344CB8AC3E}">
        <p14:creationId xmlns:p14="http://schemas.microsoft.com/office/powerpoint/2010/main" val="1184937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0ED1-AD14-A6FB-456E-0174B7304393}"/>
              </a:ext>
            </a:extLst>
          </p:cNvPr>
          <p:cNvSpPr>
            <a:spLocks noGrp="1"/>
          </p:cNvSpPr>
          <p:nvPr>
            <p:ph type="title"/>
          </p:nvPr>
        </p:nvSpPr>
        <p:spPr/>
        <p:txBody>
          <a:bodyPr/>
          <a:lstStyle/>
          <a:p>
            <a:r>
              <a:rPr lang="en-US" dirty="0"/>
              <a:t>Data Integrity</a:t>
            </a:r>
          </a:p>
        </p:txBody>
      </p:sp>
      <p:sp>
        <p:nvSpPr>
          <p:cNvPr id="3" name="Content Placeholder 2">
            <a:extLst>
              <a:ext uri="{FF2B5EF4-FFF2-40B4-BE49-F238E27FC236}">
                <a16:creationId xmlns:a16="http://schemas.microsoft.com/office/drawing/2014/main" id="{0AA8B9B9-5B8A-5BE9-5C57-6A903C0209AB}"/>
              </a:ext>
            </a:extLst>
          </p:cNvPr>
          <p:cNvSpPr>
            <a:spLocks noGrp="1"/>
          </p:cNvSpPr>
          <p:nvPr>
            <p:ph idx="1"/>
          </p:nvPr>
        </p:nvSpPr>
        <p:spPr/>
        <p:txBody>
          <a:bodyPr>
            <a:normAutofit fontScale="92500" lnSpcReduction="20000"/>
          </a:bodyPr>
          <a:lstStyle/>
          <a:p>
            <a:r>
              <a:rPr lang="en-US" dirty="0"/>
              <a:t>Databases can be useful in ensuring integrity of our data. </a:t>
            </a:r>
          </a:p>
          <a:p>
            <a:r>
              <a:rPr lang="en-US" dirty="0"/>
              <a:t>Coming back to Figure 3-6, with both the Album and Ledger tables being in the same database, we could (and likely would) define a foreign key relationship between the rows in the Ledger table and the Album table. </a:t>
            </a:r>
          </a:p>
          <a:p>
            <a:r>
              <a:rPr lang="en-US" dirty="0"/>
              <a:t>This would ensure that we’d always be able to navigate from a record in the Ledger table back to information about the album sold, as we wouldn’t be able to delete records from the Album table if they were referenced in Ledger.</a:t>
            </a:r>
          </a:p>
          <a:p>
            <a:r>
              <a:rPr lang="en-US" dirty="0"/>
              <a:t>With these tables now living in different databases, we no longer have enforcement of the integrity of our data model. </a:t>
            </a:r>
          </a:p>
          <a:p>
            <a:r>
              <a:rPr lang="en-US" dirty="0"/>
              <a:t>There is nothing to stop us from deleting a row in the Album table, causing an issue when we try to work out exactly what item was sold.</a:t>
            </a:r>
          </a:p>
        </p:txBody>
      </p:sp>
    </p:spTree>
    <p:extLst>
      <p:ext uri="{BB962C8B-B14F-4D97-AF65-F5344CB8AC3E}">
        <p14:creationId xmlns:p14="http://schemas.microsoft.com/office/powerpoint/2010/main" val="1170835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7282E-72E0-DEE0-13CE-35E26EE3DED2}"/>
              </a:ext>
            </a:extLst>
          </p:cNvPr>
          <p:cNvSpPr>
            <a:spLocks noGrp="1"/>
          </p:cNvSpPr>
          <p:nvPr>
            <p:ph type="title"/>
          </p:nvPr>
        </p:nvSpPr>
        <p:spPr/>
        <p:txBody>
          <a:bodyPr/>
          <a:lstStyle/>
          <a:p>
            <a:r>
              <a:rPr lang="en-US" dirty="0"/>
              <a:t>Transactions</a:t>
            </a:r>
          </a:p>
        </p:txBody>
      </p:sp>
      <p:sp>
        <p:nvSpPr>
          <p:cNvPr id="3" name="Content Placeholder 2">
            <a:extLst>
              <a:ext uri="{FF2B5EF4-FFF2-40B4-BE49-F238E27FC236}">
                <a16:creationId xmlns:a16="http://schemas.microsoft.com/office/drawing/2014/main" id="{3EAAB7A6-0C38-AE11-289E-04499553C007}"/>
              </a:ext>
            </a:extLst>
          </p:cNvPr>
          <p:cNvSpPr>
            <a:spLocks noGrp="1"/>
          </p:cNvSpPr>
          <p:nvPr>
            <p:ph idx="1"/>
          </p:nvPr>
        </p:nvSpPr>
        <p:spPr/>
        <p:txBody>
          <a:bodyPr/>
          <a:lstStyle/>
          <a:p>
            <a:r>
              <a:rPr lang="en-US" dirty="0"/>
              <a:t>Once we start splitting data across multiple databases, though, we lose the safety of the ACID transactions we are used to.</a:t>
            </a:r>
          </a:p>
          <a:p>
            <a:endParaRPr lang="en-US" dirty="0"/>
          </a:p>
        </p:txBody>
      </p:sp>
    </p:spTree>
    <p:extLst>
      <p:ext uri="{BB962C8B-B14F-4D97-AF65-F5344CB8AC3E}">
        <p14:creationId xmlns:p14="http://schemas.microsoft.com/office/powerpoint/2010/main" val="1564293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AEA47-4B5B-470C-2825-396235FD4034}"/>
              </a:ext>
            </a:extLst>
          </p:cNvPr>
          <p:cNvSpPr>
            <a:spLocks noGrp="1"/>
          </p:cNvSpPr>
          <p:nvPr>
            <p:ph type="title"/>
          </p:nvPr>
        </p:nvSpPr>
        <p:spPr/>
        <p:txBody>
          <a:bodyPr/>
          <a:lstStyle/>
          <a:p>
            <a:r>
              <a:rPr lang="en-US" dirty="0"/>
              <a:t>Tooling</a:t>
            </a:r>
          </a:p>
        </p:txBody>
      </p:sp>
      <p:sp>
        <p:nvSpPr>
          <p:cNvPr id="3" name="Content Placeholder 2">
            <a:extLst>
              <a:ext uri="{FF2B5EF4-FFF2-40B4-BE49-F238E27FC236}">
                <a16:creationId xmlns:a16="http://schemas.microsoft.com/office/drawing/2014/main" id="{C1EAD368-6459-4B3C-852A-46984F416A97}"/>
              </a:ext>
            </a:extLst>
          </p:cNvPr>
          <p:cNvSpPr>
            <a:spLocks noGrp="1"/>
          </p:cNvSpPr>
          <p:nvPr>
            <p:ph idx="1"/>
          </p:nvPr>
        </p:nvSpPr>
        <p:spPr/>
        <p:txBody>
          <a:bodyPr/>
          <a:lstStyle/>
          <a:p>
            <a:r>
              <a:rPr lang="en-US" dirty="0"/>
              <a:t>Changing databases is difficult for many reasons, one of which is that limited tools remain available to allow us to make changes easily. </a:t>
            </a:r>
          </a:p>
        </p:txBody>
      </p:sp>
    </p:spTree>
    <p:extLst>
      <p:ext uri="{BB962C8B-B14F-4D97-AF65-F5344CB8AC3E}">
        <p14:creationId xmlns:p14="http://schemas.microsoft.com/office/powerpoint/2010/main" val="1496073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B4F00-E9DD-07F9-2112-1400C639A716}"/>
              </a:ext>
            </a:extLst>
          </p:cNvPr>
          <p:cNvSpPr>
            <a:spLocks noGrp="1"/>
          </p:cNvSpPr>
          <p:nvPr>
            <p:ph type="title"/>
          </p:nvPr>
        </p:nvSpPr>
        <p:spPr/>
        <p:txBody>
          <a:bodyPr/>
          <a:lstStyle/>
          <a:p>
            <a:r>
              <a:rPr lang="en-US" dirty="0"/>
              <a:t>Reporting Database</a:t>
            </a:r>
          </a:p>
        </p:txBody>
      </p:sp>
      <p:pic>
        <p:nvPicPr>
          <p:cNvPr id="5" name="Content Placeholder 4">
            <a:extLst>
              <a:ext uri="{FF2B5EF4-FFF2-40B4-BE49-F238E27FC236}">
                <a16:creationId xmlns:a16="http://schemas.microsoft.com/office/drawing/2014/main" id="{485D5F7E-EE1E-09BF-BB17-5C485DA624FD}"/>
              </a:ext>
            </a:extLst>
          </p:cNvPr>
          <p:cNvPicPr>
            <a:picLocks noGrp="1" noChangeAspect="1"/>
          </p:cNvPicPr>
          <p:nvPr>
            <p:ph idx="1"/>
          </p:nvPr>
        </p:nvPicPr>
        <p:blipFill>
          <a:blip r:embed="rId3"/>
          <a:stretch>
            <a:fillRect/>
          </a:stretch>
        </p:blipFill>
        <p:spPr>
          <a:xfrm>
            <a:off x="2009775" y="1490955"/>
            <a:ext cx="8172450" cy="5194580"/>
          </a:xfrm>
        </p:spPr>
      </p:pic>
    </p:spTree>
    <p:extLst>
      <p:ext uri="{BB962C8B-B14F-4D97-AF65-F5344CB8AC3E}">
        <p14:creationId xmlns:p14="http://schemas.microsoft.com/office/powerpoint/2010/main" val="914782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B4F00-E9DD-07F9-2112-1400C639A716}"/>
              </a:ext>
            </a:extLst>
          </p:cNvPr>
          <p:cNvSpPr>
            <a:spLocks noGrp="1"/>
          </p:cNvSpPr>
          <p:nvPr>
            <p:ph type="title"/>
          </p:nvPr>
        </p:nvSpPr>
        <p:spPr/>
        <p:txBody>
          <a:bodyPr/>
          <a:lstStyle/>
          <a:p>
            <a:r>
              <a:rPr lang="en-US" dirty="0"/>
              <a:t>Reporting Database – Key Benefits</a:t>
            </a:r>
          </a:p>
        </p:txBody>
      </p:sp>
      <p:sp>
        <p:nvSpPr>
          <p:cNvPr id="4" name="Content Placeholder 3">
            <a:extLst>
              <a:ext uri="{FF2B5EF4-FFF2-40B4-BE49-F238E27FC236}">
                <a16:creationId xmlns:a16="http://schemas.microsoft.com/office/drawing/2014/main" id="{71C7250B-8494-1C08-2D2C-4E11A06D86BF}"/>
              </a:ext>
            </a:extLst>
          </p:cNvPr>
          <p:cNvSpPr>
            <a:spLocks noGrp="1"/>
          </p:cNvSpPr>
          <p:nvPr>
            <p:ph idx="1"/>
          </p:nvPr>
        </p:nvSpPr>
        <p:spPr/>
        <p:txBody>
          <a:bodyPr/>
          <a:lstStyle/>
          <a:p>
            <a:r>
              <a:rPr lang="en-US" dirty="0"/>
              <a:t>Firstly, we still want to </a:t>
            </a:r>
            <a:r>
              <a:rPr lang="en-US"/>
              <a:t>practice information </a:t>
            </a:r>
            <a:r>
              <a:rPr lang="en-US" dirty="0"/>
              <a:t>hiding. So we should expose only the bare minimum of data in the reporting database. This means that what is in the reporting database may be only a subset of the data the microservice stores. </a:t>
            </a:r>
          </a:p>
          <a:p>
            <a:r>
              <a:rPr lang="en-US" dirty="0"/>
              <a:t>The second key point is that the reporting database should be treated like any other microservice endpoint, and it is the job of the microservice maintainer to ensure that compatibility of this endpoint is maintained even if the microservice changes its internal implementation detail.</a:t>
            </a:r>
          </a:p>
        </p:txBody>
      </p:sp>
    </p:spTree>
    <p:extLst>
      <p:ext uri="{BB962C8B-B14F-4D97-AF65-F5344CB8AC3E}">
        <p14:creationId xmlns:p14="http://schemas.microsoft.com/office/powerpoint/2010/main" val="773080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1242</Words>
  <Application>Microsoft Office PowerPoint</Application>
  <PresentationFormat>Widescreen</PresentationFormat>
  <Paragraphs>77</Paragraphs>
  <Slides>17</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Splitting the Monolith</vt:lpstr>
      <vt:lpstr>What to Split First?</vt:lpstr>
      <vt:lpstr>Decomposition by Layer</vt:lpstr>
      <vt:lpstr>Decomposition by Layer – Code First</vt:lpstr>
      <vt:lpstr>Decomposition by Layer – Data First</vt:lpstr>
      <vt:lpstr>Useful Decompositional Patterns</vt:lpstr>
      <vt:lpstr>Strangler Fig Pattern</vt:lpstr>
      <vt:lpstr>Parallel Run</vt:lpstr>
      <vt:lpstr>Feature Toggle</vt:lpstr>
      <vt:lpstr>Data Decomposition Concerns</vt:lpstr>
      <vt:lpstr>Performance</vt:lpstr>
      <vt:lpstr>Performance</vt:lpstr>
      <vt:lpstr>Data Integrity</vt:lpstr>
      <vt:lpstr>Transactions</vt:lpstr>
      <vt:lpstr>Tooling</vt:lpstr>
      <vt:lpstr>Reporting Database</vt:lpstr>
      <vt:lpstr>Reporting Database – Key Benefits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Splitting the Monolith</dc:title>
  <dc:creator>Rawan Gedeon</dc:creator>
  <cp:lastModifiedBy>Rawan Gedeon</cp:lastModifiedBy>
  <cp:revision>9</cp:revision>
  <dcterms:created xsi:type="dcterms:W3CDTF">2023-05-25T08:08:17Z</dcterms:created>
  <dcterms:modified xsi:type="dcterms:W3CDTF">2023-05-25T09:53:25Z</dcterms:modified>
</cp:coreProperties>
</file>