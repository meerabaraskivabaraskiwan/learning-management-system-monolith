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6" r:id="rId20"/>
    <p:sldId id="275" r:id="rId21"/>
    <p:sldId id="278" r:id="rId22"/>
    <p:sldId id="277" r:id="rId23"/>
    <p:sldId id="279" r:id="rId24"/>
    <p:sldId id="280" r:id="rId25"/>
    <p:sldId id="281" r:id="rId26"/>
    <p:sldId id="285" r:id="rId27"/>
    <p:sldId id="287" r:id="rId28"/>
    <p:sldId id="284" r:id="rId29"/>
    <p:sldId id="288" r:id="rId30"/>
    <p:sldId id="283" r:id="rId31"/>
    <p:sldId id="286" r:id="rId32"/>
    <p:sldId id="282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9769-82EE-58F6-C546-0FDE3652E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D7F1-ABEF-CF7B-2522-66CDD6F7B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BC2C-606D-007C-1120-1ADEED67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ACE32-F57D-5DB6-A3A7-C7DB7EF4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D04C-2438-40B6-93F2-C253962C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66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9449-D956-E304-2A7F-4763DF81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0157-28A6-32E2-1DAA-152BE9F78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E356E-115C-B0B7-22B6-7FBF92A1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C675C-A234-4CEA-2A45-713C1561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5E730-D5D5-9C30-EB1A-F4264E35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9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00D5-7221-DE2D-39B0-FDDE7EA3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8BBA-4A5A-35F2-331D-0EA2275FD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71EEA-ECC2-01A3-2689-49BB87B0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E4151-09D4-E738-EE86-7489D44B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015FA-8D08-3F7D-E4F7-0517B371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56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3428-610E-D082-0FEA-1952723F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E72DB-E4B3-B9CA-3433-AA82FF509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7AF24-4CC8-F7F1-4198-C8D89970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D810-5949-573D-198C-3C8CA626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10A19-5746-90C8-AF10-D9C5776E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CE64-F97F-4375-40BE-D924655F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06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F898-541A-4FD0-5CE7-6EF1AF60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827B-B1D5-2702-AF3B-3FBECBA67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5BF8-A2A6-6087-4A35-4BC6DE213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85E1B-D527-44D8-9AF3-FF1F5A725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158C1-122C-5862-92B0-EB4C2A267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C459E-B496-1CDB-306A-DE80CB1E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F3C27-9311-3954-CCFC-EF83F57C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6312F-9F1B-57F5-B0DD-CC8E5B3A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0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79F0-9EF9-B02F-973B-28A7A28B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FF7F8-52C7-65F1-38F5-D53900E1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D0393-2B3E-6E69-C607-10419202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92805-BC37-F254-B632-AAF8D369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53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FB551-3AA1-1952-701B-DF94D586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A0D24-9C70-E1C0-7C44-7DB5AB5D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10B63-F87E-575F-E1E2-3D7499A9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53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49D1-1340-5BE6-AEC9-52651E98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8AB0D-750D-4171-7231-7F06FAEE7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47D9B-CF1C-32C1-39B5-2133C136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CDD05-C53C-E60A-5733-D2889414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03100-5979-6362-6763-F9656A07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7800A-4DC1-368B-260C-9F8BE1B4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76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DC3F-5417-A2A1-4072-B31A2838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F7FD8-9B48-4BDA-7D4D-2E0DA94F1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97017-A765-0207-ECCB-0AA783DF5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AF87-AAE9-9AD4-1B5C-014C2CC2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E2E31-ECB5-4827-336A-0B306C38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20E54-B1C0-5706-C004-9C3C433D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25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3E02-9574-C195-1CA6-7B7B84A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F5131-550A-26DB-E95A-5CC37C937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1DE2B-60E8-F21F-0BC6-BD938990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02B9-3125-A0B6-8EF5-E25E9FA4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1E64-FE65-113E-840D-D199D44C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82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F4002-9D5A-4660-1F63-57EEAB86A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9B459-89AC-37DF-5CEB-E9D96ED45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1B0C-6EE2-E648-666E-2E40629D9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AAC9-5FDE-42B0-823C-23B1CF14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B586-F997-510E-AB1A-EF52636A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41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C55281-C705-ADF2-64F1-5B04980D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6A0CE-EABA-4214-83B1-295CEAB2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AD985-2D94-CC0F-5A04-93D24455F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17F3-B802-403C-9415-3A96E8C878AE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909BF-6F5E-A42A-9D6C-83712F46E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7034-4342-3EDD-ADB0-B5DB84D0D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C7E79-416D-4BD7-B9AD-87D5234C2B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77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9577-E750-FD4F-9891-38FF42CA6B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Workflows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BFE0B-2CFC-067D-7F03-18AEEAFC9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245406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11AB-D9E4-BB5A-61DA-D0E32C79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Database Transactions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F57DB-A845-656F-A453-5ED942D5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Definition of a Transaction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In computing, a transaction is a series of actions treated as a single unit.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Purpose of a Transaction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Ensures multiple changes during the same operation are confirmed.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Error Handling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Provides a method to revert changes if an error occurs during the transaction.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 in Databases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Transactions in databases ensure that state changes (remove, insert, change) are successfully made.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Relational Databases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Transactions may involve updates across multiple tables within a single operation.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69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D690-E8C3-3CE2-1AF1-DA730DF8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ACID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3E8E-DD48-421E-96D0-5C6EDE98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ACID Overview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ACID is an acronym for Atomicity, Consistency, Isolation, Durability—key properties ensuring reliable database transactions.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Atomicity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Guarantees that all operations within a transaction either completely succeed or fail; if one operation fails, the transaction is aborted as if no changes were made.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Consistency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Ensures the database remains in a valid state after changes, maintaining data integrity.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Isolation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Allows concurrent transactions without interference, keeping interim changes invisible to other transactions.</a:t>
            </a:r>
          </a:p>
          <a:p>
            <a:pPr lvl="1"/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Durability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Once a transaction is completed, changes are permanent, protecting data against system failures.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86171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D690-E8C3-3CE2-1AF1-DA730DF8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ACID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3E8E-DD48-421E-96D0-5C6EDE98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Database Support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Not all databases support ACID properties; while relational databases typically do, some NoSQL databases like Neo4j also support ACID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Microservices and ACID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In a microservices architecture, each service can employ ACID transactions within its own database, though this limits the transaction scope to local state changes.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Challenges in Distributed Transactions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Introduces the complexity of coordinating across multiple services, potentially affecting atomicity and requiring advanced management techniques like the two-phase commit.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37698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D690-E8C3-3CE2-1AF1-DA730DF8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ACID Transactions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CF42E-8C93-14D7-42E3-012BA2ED6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176" y="1825625"/>
            <a:ext cx="6359647" cy="4351338"/>
          </a:xfrm>
        </p:spPr>
      </p:pic>
    </p:spTree>
    <p:extLst>
      <p:ext uri="{BB962C8B-B14F-4D97-AF65-F5344CB8AC3E}">
        <p14:creationId xmlns:p14="http://schemas.microsoft.com/office/powerpoint/2010/main" val="171844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2CB1-878D-BECC-B57C-6EF42AD8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ACID Transactions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3BF83A-B35B-1C91-710D-2050569DD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8500" y="1825625"/>
            <a:ext cx="5914999" cy="4351338"/>
          </a:xfrm>
        </p:spPr>
      </p:pic>
    </p:spTree>
    <p:extLst>
      <p:ext uri="{BB962C8B-B14F-4D97-AF65-F5344CB8AC3E}">
        <p14:creationId xmlns:p14="http://schemas.microsoft.com/office/powerpoint/2010/main" val="416312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B0C3-DC75-6BBC-4394-9A740927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Transactions—Two-Phase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0896-D820-46B7-620F-D982BED5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Two-Phase Commit Overview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method used to manage transactional changes in a distributed system involving multiple processes.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Phases of 2PC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Voting Phase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coordinator requests confirmation from all participants for a proposed state change. If any participant disagrees, the transaction is aborted.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Commit Phase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If all participants approve, the changes are implemented and locks released.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04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DC7D-C5B8-1F82-9D83-DC5D632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Transactions—Two-Phase Commits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3CDB8F-504A-6290-FB47-196EDB647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134" y="1690688"/>
            <a:ext cx="7280007" cy="4916369"/>
          </a:xfrm>
        </p:spPr>
      </p:pic>
    </p:spTree>
    <p:extLst>
      <p:ext uri="{BB962C8B-B14F-4D97-AF65-F5344CB8AC3E}">
        <p14:creationId xmlns:p14="http://schemas.microsoft.com/office/powerpoint/2010/main" val="98716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DC7D-C5B8-1F82-9D83-DC5D632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Transactions—Two-Phase Commits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405519-3A0D-0F64-3E0C-A72580862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916" y="1825624"/>
            <a:ext cx="7295191" cy="4793539"/>
          </a:xfrm>
        </p:spPr>
      </p:pic>
    </p:spTree>
    <p:extLst>
      <p:ext uri="{BB962C8B-B14F-4D97-AF65-F5344CB8AC3E}">
        <p14:creationId xmlns:p14="http://schemas.microsoft.com/office/powerpoint/2010/main" val="39841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DC7D-C5B8-1F82-9D83-DC5D632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Transactions—Two-Phase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865E-C9B0-FCE1-5592-EFB04092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Coordination and Locks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The central coordinator plays a key role in managing the process, ensuring that changes are prepared before being committed.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Challenges with Timing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Commits may not happen simultaneously across all systems due to messaging delays, leading to potential inconsistencies.</a:t>
            </a:r>
          </a:p>
        </p:txBody>
      </p:sp>
    </p:spTree>
    <p:extLst>
      <p:ext uri="{BB962C8B-B14F-4D97-AF65-F5344CB8AC3E}">
        <p14:creationId xmlns:p14="http://schemas.microsoft.com/office/powerpoint/2010/main" val="1809807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DC7D-C5B8-1F82-9D83-DC5D632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Transactions—Two-Phase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865E-C9B0-FCE1-5592-EFB04092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Reliability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Concerns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Issues like failure in participant response during the commit phase can complicate the transaction, sometimes requiring manual intervention.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Failure Modes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Two-phase commits have various failure modes that need careful handling, some of which may lead to system states requiring manual fixes.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Performance Impacts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The use of distributed locks and the potential for increased latency make 2PC suitable mainly for short-lived operations to minimize locked resources.</a:t>
            </a:r>
          </a:p>
        </p:txBody>
      </p:sp>
    </p:spTree>
    <p:extLst>
      <p:ext uri="{BB962C8B-B14F-4D97-AF65-F5344CB8AC3E}">
        <p14:creationId xmlns:p14="http://schemas.microsoft.com/office/powerpoint/2010/main" val="4198620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F45F-75BE-5AC0-B016-CE99AB87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Transactions—Just Say No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3450D-DCC7-47B5-7A31-6F8AD767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Avoid Distributed Transactions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Recommended to steer clear of complex coordination methods like two-phase commits for state changes across microservices.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Keep State Together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If atomicity and consistency are crucial, consider not splitting the state. Keep it managed within a single database and service to maintain ACID-style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Assess Monolith Decomposition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When deciding where to split a monolith, consider leaving transactionally managed data together if it seems too complex to handle right now. Focus on simpler areas first.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Alternative Approaches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method to manage long-duration and complex transactions across microservices without requiring distributed locks.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785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2907-2849-61D1-3779-B46C590A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87F0-5D15-56A3-F1CF-CEB63CE0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Definition of 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An algorithm designed to manage long-lived transactions (LLTs) across multiple services without locking resources for extended periods.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Independent Execution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Sagas coordinate multiple state changes by breaking them down into discrete, independently executable activities.</a:t>
            </a:r>
          </a:p>
        </p:txBody>
      </p:sp>
    </p:spTree>
    <p:extLst>
      <p:ext uri="{BB962C8B-B14F-4D97-AF65-F5344CB8AC3E}">
        <p14:creationId xmlns:p14="http://schemas.microsoft.com/office/powerpoint/2010/main" val="286428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2907-2849-61D1-3779-B46C590A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87F0-5D15-56A3-F1CF-CEB63CE0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Business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Process Modeling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Using sagas encourages explicit modeling of business processes, yielding significant benefits in clarity and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Origins and Concept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Introduced by Hector Garcia-Molina and Kenneth Salem, sagas address how to handle LLTs that could lock database resources detrimentally.</a:t>
            </a:r>
          </a:p>
        </p:txBody>
      </p:sp>
    </p:spTree>
    <p:extLst>
      <p:ext uri="{BB962C8B-B14F-4D97-AF65-F5344CB8AC3E}">
        <p14:creationId xmlns:p14="http://schemas.microsoft.com/office/powerpoint/2010/main" val="3656709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2907-2849-61D1-3779-B46C590A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87F0-5D15-56A3-F1CF-CEB63CE0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Breakdown of Transactions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LLTs are divided into smaller, manageable transactions, reducing lock duration and scope, and minimizing database contention.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Application in Microservices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Sagas are applicable in microservice architectures to coordinate changes across services, breaking a single process into multiple service calls.</a:t>
            </a:r>
          </a:p>
        </p:txBody>
      </p:sp>
    </p:spTree>
    <p:extLst>
      <p:ext uri="{BB962C8B-B14F-4D97-AF65-F5344CB8AC3E}">
        <p14:creationId xmlns:p14="http://schemas.microsoft.com/office/powerpoint/2010/main" val="416291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2907-2849-61D1-3779-B46C590A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87F0-5D15-56A3-F1CF-CEB63CE0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Atomicity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ACID Compliance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While sagas do not provide saga-level atomicity, they ensure atomicity for each individual transaction within the saga.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Handling State Changes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Each service in a saga can manage its state changes locally, maintaining ACID properties within its own scope.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2377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0E89-326E-D21C-66C5-2CCAC3AB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28AD7-65E7-2A14-27C0-837DE47FD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1447" y="77234"/>
            <a:ext cx="7192353" cy="6415641"/>
          </a:xfrm>
        </p:spPr>
      </p:pic>
    </p:spTree>
    <p:extLst>
      <p:ext uri="{BB962C8B-B14F-4D97-AF65-F5344CB8AC3E}">
        <p14:creationId xmlns:p14="http://schemas.microsoft.com/office/powerpoint/2010/main" val="183814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3374-AD55-C6ED-10CA-CC1F3ED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 Failure Modes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0A8F-E7DA-8743-1DB3-27ED85AC8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 Recovery Types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Backward Recovery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Involves rolling back the saga by defining compensating transactions to undo changes if a failure occurs.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Forward Recovery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Continues from the point of failure by retrying transactions, assuming the system persists necessary information for retries.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26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3374-AD55-C6ED-10CA-CC1F3ED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 Failure Modes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0A8F-E7DA-8743-1DB3-27ED85AC8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Business vs. Technical Failures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Business Failures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Issues like insufficient customer funds are expected to be managed by sagas.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Technical Failures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Problems like payment gateway errors need separate handling, as sagas assume underlying system reliability.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011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3374-AD55-C6ED-10CA-CC1F3ED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 </a:t>
            </a: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Rollbacks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E9E2C2-D7E6-9278-5556-3266AA6CC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8378" y="495346"/>
            <a:ext cx="6926683" cy="5867308"/>
          </a:xfrm>
        </p:spPr>
      </p:pic>
    </p:spTree>
    <p:extLst>
      <p:ext uri="{BB962C8B-B14F-4D97-AF65-F5344CB8AC3E}">
        <p14:creationId xmlns:p14="http://schemas.microsoft.com/office/powerpoint/2010/main" val="2185517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3374-AD55-C6ED-10CA-CC1F3ED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 </a:t>
            </a: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Rollbacks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21F9F-5603-CFA8-6D6A-CF9DDBA8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Role of Compensating Transactions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These are essential for sagas, allowing the undoing of changes after they are committed, unlike traditional rollbacks which prevent changes from being finalized.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Challenges with Complete Rollbacks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Some actions, like sent emails, cannot be undone; compensating transactions must manage such situations semantically rather than literally.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400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AE4A-3A85-1DE6-BE6F-66F10B87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 rollbacks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9834A-FBBD-834E-689F-0535EFAF3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8609" y="1825625"/>
            <a:ext cx="5094782" cy="4351338"/>
          </a:xfrm>
        </p:spPr>
      </p:pic>
    </p:spTree>
    <p:extLst>
      <p:ext uri="{BB962C8B-B14F-4D97-AF65-F5344CB8AC3E}">
        <p14:creationId xmlns:p14="http://schemas.microsoft.com/office/powerpoint/2010/main" val="4121216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8A99-CD01-EB8A-DFF9-A63D8258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Reordering workflow steps to reduce rollbacks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B6E95-6A95-A6AC-4F35-C976D4AE0C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14287" y="1011948"/>
            <a:ext cx="5295031" cy="5480927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532FF-E5B3-1A59-28AF-882162DE7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56" y="2003046"/>
            <a:ext cx="5181600" cy="4351338"/>
          </a:xfrm>
        </p:spPr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Workflow Optimization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Reordering saga steps can reduce the need for complex rollbacks, simplifying the management of transactions and minimizing potential failures.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959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96A2-70EE-7FBC-F737-D98C3DDB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7E33-6865-B7AA-DE68-56CCC186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Mixed Recovery Strategies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It's practical to mix backward and forward recovery strategies within a saga to optimize handling of different types of failures.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Human Intervention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Some scenarios may require manual resolution when automated recovery strategies fail.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858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99A-0158-4049-CAE8-6D8E5E8A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545-4B25-EEA6-EE40-B79925B3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Types of Saga Implementations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Orchestrated 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Utilize a central coordinator (orchestrator) to manage the order of operations and compensating actions. This approach offers clear command and control with high visibility into the saga’s progress.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Choreographed 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Operate without centralized coordination, using a distributed approach where services react to events. This model reduces domain coupling but may complicate tracking saga progress.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906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99A-0158-4049-CAE8-6D8E5E8A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545-4B25-EEA6-EE40-B79925B3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Orchestrated Saga Characteristics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Centralized control with a single orchestrator managing interactions and decisions.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Benefits include easier onboarding and understanding of business processes due to centralized logic.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Downsides include potential for high domain coupling and centralization of business logic, which may lead to anemic services.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379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2781-A208-1B18-F000-4ABB411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Orchestrated Saga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6710F5-2CF6-903A-4B49-6DC56977B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1524" y="1825625"/>
            <a:ext cx="6728951" cy="4351338"/>
          </a:xfrm>
        </p:spPr>
      </p:pic>
    </p:spTree>
    <p:extLst>
      <p:ext uri="{BB962C8B-B14F-4D97-AF65-F5344CB8AC3E}">
        <p14:creationId xmlns:p14="http://schemas.microsoft.com/office/powerpoint/2010/main" val="3478045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99A-0158-4049-CAE8-6D8E5E8A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545-4B25-EEA6-EE40-B79925B3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Choreographed Saga Characteristics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Services independently handle parts of the saga, responding to and emitting events.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Reduces coupling and centralization, distributing logic across services.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Challenges include difficulty in tracing and understanding the complete business process and state of the saga.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971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455A-19F3-DAF0-6A6B-67647EDA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Choreographed Saga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DA9FCD-D6A5-2D9F-1970-7BA82B97C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203" y="1825625"/>
            <a:ext cx="6123594" cy="4351338"/>
          </a:xfrm>
        </p:spPr>
      </p:pic>
    </p:spTree>
    <p:extLst>
      <p:ext uri="{BB962C8B-B14F-4D97-AF65-F5344CB8AC3E}">
        <p14:creationId xmlns:p14="http://schemas.microsoft.com/office/powerpoint/2010/main" val="1037755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99A-0158-4049-CAE8-6D8E5E8A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545-4B25-EEA6-EE40-B79925B3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Business Process Modeling (BPM) Tools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Often used to implement orchestrated sagas with a visual interface for defining business processes.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Criticisms include complexity and lack of suitability for developers, with issues in version control and testing.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4574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99A-0158-4049-CAE8-6D8E5E8A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Sagas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545-4B25-EEA6-EE40-B79925B3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Tracing and Monitoring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Both orchestrated and choreographed sagas benefit from mechanisms like correlation IDs for tracing transactions and building a comprehensive view of the saga’s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Mixing Saga Styles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Combining orchestrated and choreographed elements in a saga can be effective, depending on the business context and team structure.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Important to maintain clarity on the state and progression of the saga to manage failures and ensure effective recovery strategies.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3066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611E-B921-5B3B-A967-9D25EEEC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Sagas Versus Distributed Transactions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647E-00F8-B8C2-4511-5A4D9603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Fundamental Challenges of Distributed Transactions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Susceptibility to node failure: Failure in a single node can stall transaction commits, potentially wedging the entire application.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Scalability issues: As the system scales, the likelihood of downtime increases due to the complexity and dependency on every node functioning correctly.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776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611E-B921-5B3B-A967-9D25EEEC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Sagas Versus Distributed Transactions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647E-00F8-B8C2-4511-5A4D9603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Comparison with 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Resilience to Failures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Sagas, by design, handle failures more gracefully by breaking down transactions into smaller, manageable operations that can be independently completed or compensated for if failures occur.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Process Clarity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Implementing sagas encourages explicit modeling of business processes, making it easier for developers to understand and maintain these processes.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Advantages of Sagas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Enhanced visibility and clarity in business process modeling.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Reduced risk of system-wide failures due to localized handling of failures within individual components of a saga.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Potential for more robust system design, with flexibility in handling long-running and complex transactions.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491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1497</Words>
  <Application>Microsoft Office PowerPoint</Application>
  <PresentationFormat>Widescreen</PresentationFormat>
  <Paragraphs>109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Söhne</vt:lpstr>
      <vt:lpstr>Office Theme</vt:lpstr>
      <vt:lpstr>Workflows</vt:lpstr>
      <vt:lpstr>Database Transactions</vt:lpstr>
      <vt:lpstr>ACID Transactions</vt:lpstr>
      <vt:lpstr>ACID Transactions</vt:lpstr>
      <vt:lpstr>ACID Transactions</vt:lpstr>
      <vt:lpstr>ACID Transactions</vt:lpstr>
      <vt:lpstr>Distributed Transactions—Two-Phase Commits</vt:lpstr>
      <vt:lpstr>Distributed Transactions—Two-Phase Commits</vt:lpstr>
      <vt:lpstr>Distributed Transactions—Two-Phase Commits</vt:lpstr>
      <vt:lpstr>Distributed Transactions—Two-Phase Commits</vt:lpstr>
      <vt:lpstr>Distributed Transactions—Two-Phase Commits</vt:lpstr>
      <vt:lpstr>Distributed Transactions—Just Say No</vt:lpstr>
      <vt:lpstr>Sagas</vt:lpstr>
      <vt:lpstr>Sagas</vt:lpstr>
      <vt:lpstr>Sagas</vt:lpstr>
      <vt:lpstr>Sagas</vt:lpstr>
      <vt:lpstr>Sagas</vt:lpstr>
      <vt:lpstr>Saga Failure Modes</vt:lpstr>
      <vt:lpstr>Saga Failure Modes</vt:lpstr>
      <vt:lpstr>Saga Rollbacks</vt:lpstr>
      <vt:lpstr>Saga Rollbacks</vt:lpstr>
      <vt:lpstr>Saga rollbacks</vt:lpstr>
      <vt:lpstr>Reordering workflow steps to reduce rollbacks</vt:lpstr>
      <vt:lpstr>Sagas</vt:lpstr>
      <vt:lpstr>Implementing Sagas</vt:lpstr>
      <vt:lpstr>Implementing Sagas</vt:lpstr>
      <vt:lpstr>Orchestrated Saga</vt:lpstr>
      <vt:lpstr>Implementing Sagas</vt:lpstr>
      <vt:lpstr>Choreographed Saga</vt:lpstr>
      <vt:lpstr>Implementing Sagas</vt:lpstr>
      <vt:lpstr>Implementing Sagas</vt:lpstr>
      <vt:lpstr>Sagas Versus Distributed Transactions</vt:lpstr>
      <vt:lpstr>Sagas Versus Distributed Transactions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Workflows</dc:title>
  <dc:creator>Rawan Gedeon</dc:creator>
  <cp:lastModifiedBy>Rawan Gedeon</cp:lastModifiedBy>
  <cp:revision>15</cp:revision>
  <dcterms:created xsi:type="dcterms:W3CDTF">2024-05-19T15:50:42Z</dcterms:created>
  <dcterms:modified xsi:type="dcterms:W3CDTF">2024-05-19T16:42:01Z</dcterms:modified>
</cp:coreProperties>
</file>